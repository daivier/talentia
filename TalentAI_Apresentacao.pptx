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3D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2011680"/>
            <a:ext cx="121889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TalentAI</a:t>
            </a:r>
            <a:endParaRPr lang="en-US" sz="8000" dirty="0"/>
          </a:p>
        </p:txBody>
      </p:sp>
      <p:sp>
        <p:nvSpPr>
          <p:cNvPr id="5" name="Shape 3"/>
          <p:cNvSpPr/>
          <p:nvPr/>
        </p:nvSpPr>
        <p:spPr>
          <a:xfrm>
            <a:off x="1828800" y="3520440"/>
            <a:ext cx="8531352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0" y="365760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C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Inteligente de Gestão de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CCDD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Recrutamento e Seleção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608076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interno — RH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TalentAI?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68680"/>
            <a:ext cx="117317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TalentAI é uma plataforma completa de recrutamento e seleção que combina inteligência artificial com gestão de candidatos, vagas e comunicação. Desenvolvido para otimizar todo o ciclo de contratação — da publicação da vaga até a contratação.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3749040" cy="2286000"/>
          </a:xfrm>
          <a:prstGeom prst="rect">
            <a:avLst>
              <a:gd name="adj" fmla="val 4000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37360"/>
            <a:ext cx="374904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2011680"/>
            <a:ext cx="3749040" cy="1828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55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2860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automático, triagem automática, geração de descrições de vagas e assistente IA.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06240" y="1737360"/>
            <a:ext cx="3749040" cy="2286000"/>
          </a:xfrm>
          <a:prstGeom prst="rect">
            <a:avLst>
              <a:gd name="adj" fmla="val 4000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737360"/>
            <a:ext cx="374904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06240" y="2011680"/>
            <a:ext cx="3749040" cy="1828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1755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Automatizada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43400" y="22860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gatilhos de e-mail automático em momentos-chave do processo seletivo.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38160" y="1737360"/>
            <a:ext cx="3749040" cy="2286000"/>
          </a:xfrm>
          <a:prstGeom prst="rect">
            <a:avLst>
              <a:gd name="adj" fmla="val 4000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737360"/>
            <a:ext cx="374904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011680"/>
            <a:ext cx="3749040" cy="1828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0" y="1755648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75320" y="2286000"/>
            <a:ext cx="34747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3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visual, vagas, candidatos, entrevistas, ofertas e relatórios integrados.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do Candidato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823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vitrine da empresa para o mercado de talentos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188720"/>
            <a:ext cx="11640312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 de vagas com filtros por modalidade (Remoto, Híbrido, Presencial), área e tipo de contrato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por cargo, habilidade ou empresa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Candidatura em segundos: o candidato cria conta e se inscreve diretamente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pessoal "Minha Área": candidaturas, status, score IA e mensagens do RH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de dados pessoais em conformidade com a LGPD</a:t>
            </a:r>
            <a:endParaRPr lang="en-US" sz="1400" dirty="0"/>
          </a:p>
          <a:p>
            <a:pPr>
              <a:spcAft>
                <a:spcPts val="400"/>
              </a:spcAft>
            </a:pPr>
            <a:r>
              <a:rPr lang="en-US" sz="14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responsiva e moderna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5303520"/>
            <a:ext cx="11640312" cy="594360"/>
          </a:xfrm>
          <a:prstGeom prst="rect">
            <a:avLst>
              <a:gd name="adj" fmla="val 9231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532180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Acesso: http://localhost:3000/portal  (ou domínio configurado)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Candidatura com Análise Automática por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5303520" cy="502920"/>
          </a:xfrm>
          <a:prstGeom prst="rect">
            <a:avLst>
              <a:gd name="adj" fmla="val 9091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25296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Candidato preenche perfil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5303520" cy="502920"/>
          </a:xfrm>
          <a:prstGeom prst="rect">
            <a:avLst>
              <a:gd name="adj" fmla="val 9091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819656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Seleciona a vaga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2377440"/>
            <a:ext cx="5303520" cy="502920"/>
          </a:xfrm>
          <a:prstGeom prst="rect">
            <a:avLst>
              <a:gd name="adj" fmla="val 9091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14016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Confirma candidatura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2971800"/>
            <a:ext cx="5303520" cy="502920"/>
          </a:xfrm>
          <a:prstGeom prst="rect">
            <a:avLst>
              <a:gd name="adj" fmla="val 9091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008376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IA analisa compatibilidade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3566160"/>
            <a:ext cx="5303520" cy="502920"/>
          </a:xfrm>
          <a:prstGeom prst="rect">
            <a:avLst>
              <a:gd name="adj" fmla="val 9091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602736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Score gerado de 0 a 100%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4160520"/>
            <a:ext cx="5303520" cy="502920"/>
          </a:xfrm>
          <a:prstGeom prst="rect">
            <a:avLst>
              <a:gd name="adj" fmla="val 9091"/>
            </a:avLst>
          </a:prstGeom>
          <a:solidFill>
            <a:srgbClr val="E6F4DC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4197096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Score ≥ 70%: avança para Triagem IA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4754880"/>
            <a:ext cx="5303520" cy="502920"/>
          </a:xfrm>
          <a:prstGeom prst="rect">
            <a:avLst>
              <a:gd name="adj" fmla="val 9091"/>
            </a:avLst>
          </a:prstGeom>
          <a:solidFill>
            <a:srgbClr val="FDF0DC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4791456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Score &lt; 70%: aguarda revisão do RH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5349240"/>
            <a:ext cx="5303520" cy="502920"/>
          </a:xfrm>
          <a:prstGeom prst="rect">
            <a:avLst>
              <a:gd name="adj" fmla="val 9091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1480" y="5385816"/>
            <a:ext cx="5029200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E-mail de confirmação enviado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943600" y="1188720"/>
            <a:ext cx="1005840" cy="4114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118872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49440" y="1188720"/>
            <a:ext cx="1828800" cy="4114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118872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778240" y="1188720"/>
            <a:ext cx="2286000" cy="4114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23960" y="1188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1600200"/>
            <a:ext cx="1005840" cy="548640"/>
          </a:xfrm>
          <a:prstGeom prst="rect">
            <a:avLst/>
          </a:prstGeom>
          <a:solidFill>
            <a:srgbClr val="E6F4DC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6002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85%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949440" y="1600200"/>
            <a:ext cx="1828800" cy="548640"/>
          </a:xfrm>
          <a:prstGeom prst="rect">
            <a:avLst/>
          </a:prstGeom>
          <a:solidFill>
            <a:srgbClr val="E6F4DC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160020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778240" y="1600200"/>
            <a:ext cx="2286000" cy="548640"/>
          </a:xfrm>
          <a:prstGeom prst="rect">
            <a:avLst/>
          </a:prstGeom>
          <a:solidFill>
            <a:srgbClr val="E6F4DC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823960" y="16002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 automaticamente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943600" y="2148840"/>
            <a:ext cx="1005840" cy="548640"/>
          </a:xfrm>
          <a:prstGeom prst="rect">
            <a:avLst/>
          </a:prstGeom>
          <a:solidFill>
            <a:srgbClr val="FDF0DC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89320" y="21488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70–84%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49440" y="2148840"/>
            <a:ext cx="1828800" cy="548640"/>
          </a:xfrm>
          <a:prstGeom prst="rect">
            <a:avLst/>
          </a:prstGeom>
          <a:solidFill>
            <a:srgbClr val="FDF0DC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214884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 compatibilidade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778240" y="2148840"/>
            <a:ext cx="2286000" cy="548640"/>
          </a:xfrm>
          <a:prstGeom prst="rect">
            <a:avLst/>
          </a:prstGeom>
          <a:solidFill>
            <a:srgbClr val="FDF0DC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23960" y="214884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 automaticamente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2697480"/>
            <a:ext cx="1005840" cy="548640"/>
          </a:xfrm>
          <a:prstGeom prst="rect">
            <a:avLst/>
          </a:prstGeom>
          <a:solidFill>
            <a:srgbClr val="FDEAEA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89320" y="26974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70%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949440" y="2697480"/>
            <a:ext cx="1828800" cy="548640"/>
          </a:xfrm>
          <a:prstGeom prst="rect">
            <a:avLst/>
          </a:prstGeom>
          <a:solidFill>
            <a:srgbClr val="FDEAEA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95160" y="26974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778240" y="2697480"/>
            <a:ext cx="2286000" cy="548640"/>
          </a:xfrm>
          <a:prstGeom prst="rect">
            <a:avLst/>
          </a:prstGeom>
          <a:solidFill>
            <a:srgbClr val="FDEAEA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823960" y="269748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 revisão do RH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Visual de Recrutamento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823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Acompanhe cada candidato em tempo real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1463040" cy="640080"/>
          </a:xfrm>
          <a:prstGeom prst="rect">
            <a:avLst>
              <a:gd name="adj" fmla="val 8571"/>
            </a:avLst>
          </a:prstGeom>
          <a:solidFill>
            <a:srgbClr val="1A56A0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INSCRITOS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554480"/>
            <a:ext cx="137160" cy="0"/>
          </a:xfrm>
          <a:prstGeom prst="line">
            <a:avLst/>
          </a:prstGeom>
          <a:noFill/>
          <a:ln w="19050">
            <a:solidFill>
              <a:srgbClr val="0D3D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1234440"/>
            <a:ext cx="1463040" cy="640080"/>
          </a:xfrm>
          <a:prstGeom prst="rect">
            <a:avLst>
              <a:gd name="adj" fmla="val 8571"/>
            </a:avLst>
          </a:prstGeom>
          <a:solidFill>
            <a:srgbClr val="1A56A0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IA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37560" y="1554480"/>
            <a:ext cx="137160" cy="0"/>
          </a:xfrm>
          <a:prstGeom prst="line">
            <a:avLst/>
          </a:prstGeom>
          <a:noFill/>
          <a:ln w="19050">
            <a:solidFill>
              <a:srgbClr val="0D3D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1234440"/>
            <a:ext cx="1463040" cy="640080"/>
          </a:xfrm>
          <a:prstGeom prst="rect">
            <a:avLst>
              <a:gd name="adj" fmla="val 8571"/>
            </a:avLst>
          </a:prstGeom>
          <a:solidFill>
            <a:srgbClr val="1A56A0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ENT. RH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1554480"/>
            <a:ext cx="137160" cy="0"/>
          </a:xfrm>
          <a:prstGeom prst="line">
            <a:avLst/>
          </a:prstGeom>
          <a:noFill/>
          <a:ln w="19050">
            <a:solidFill>
              <a:srgbClr val="0D3D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4920" y="1234440"/>
            <a:ext cx="1463040" cy="640080"/>
          </a:xfrm>
          <a:prstGeom prst="rect">
            <a:avLst>
              <a:gd name="adj" fmla="val 8571"/>
            </a:avLst>
          </a:prstGeom>
          <a:solidFill>
            <a:srgbClr val="1A56A0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1554480"/>
            <a:ext cx="137160" cy="0"/>
          </a:xfrm>
          <a:prstGeom prst="line">
            <a:avLst/>
          </a:prstGeom>
          <a:noFill/>
          <a:ln w="19050">
            <a:solidFill>
              <a:srgbClr val="0D3D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1234440"/>
            <a:ext cx="1463040" cy="640080"/>
          </a:xfrm>
          <a:prstGeom prst="rect">
            <a:avLst>
              <a:gd name="adj" fmla="val 8571"/>
            </a:avLst>
          </a:prstGeom>
          <a:solidFill>
            <a:srgbClr val="1A56A0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FINALISTAS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1554480"/>
            <a:ext cx="137160" cy="0"/>
          </a:xfrm>
          <a:prstGeom prst="line">
            <a:avLst/>
          </a:prstGeom>
          <a:noFill/>
          <a:ln w="19050">
            <a:solidFill>
              <a:srgbClr val="0D3D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75320" y="1234440"/>
            <a:ext cx="1463040" cy="640080"/>
          </a:xfrm>
          <a:prstGeom prst="rect">
            <a:avLst>
              <a:gd name="adj" fmla="val 8571"/>
            </a:avLst>
          </a:prstGeom>
          <a:solidFill>
            <a:srgbClr val="1A56A0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7532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738360" y="1554480"/>
            <a:ext cx="137160" cy="0"/>
          </a:xfrm>
          <a:prstGeom prst="line">
            <a:avLst/>
          </a:prstGeom>
          <a:noFill/>
          <a:ln w="19050">
            <a:solidFill>
              <a:srgbClr val="0D3D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75520" y="1234440"/>
            <a:ext cx="1463040" cy="640080"/>
          </a:xfrm>
          <a:prstGeom prst="rect">
            <a:avLst>
              <a:gd name="adj" fmla="val 8571"/>
            </a:avLst>
          </a:prstGeom>
          <a:solidFill>
            <a:srgbClr val="2D6A0F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75520" y="1234440"/>
            <a:ext cx="1463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CONTRATADOS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" y="2103120"/>
            <a:ext cx="1164031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por candidato com score colorido (verde, amarelo ou vermelho)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por vaga: exibe apenas candidatos de uma vaga específica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Avançar etapa com um clique — atualiza em tempo real, sem recarregar a página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Reprovar candidato com envio automático de e-mail de feedback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completo do candidato acessível diretamente do card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Automática por 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5394960" cy="4389120"/>
          </a:xfrm>
          <a:prstGeom prst="rect">
            <a:avLst>
              <a:gd name="adj" fmla="val 2083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39496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539496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52144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todos os candidatos inscritos sem score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avalia: habilidades, localização, experiência e alinhamento com a vaga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70%: avança para Triagem IA automaticamente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70%: permanece em Inscritos para análise humana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calculado também ao se inscrever pelo portal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143000"/>
            <a:ext cx="5486400" cy="4389120"/>
          </a:xfrm>
          <a:prstGeom prst="rect">
            <a:avLst>
              <a:gd name="adj" fmla="val 2083"/>
            </a:avLst>
          </a:prstGeom>
          <a:solidFill>
            <a:srgbClr val="E6F4DC"/>
          </a:solidFill>
          <a:ln w="12700">
            <a:solidFill>
              <a:srgbClr val="2D6A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0" y="1143000"/>
            <a:ext cx="5486400" cy="457200"/>
          </a:xfrm>
          <a:prstGeom prst="rect">
            <a:avLst>
              <a:gd name="adj" fmla="val 20000"/>
            </a:avLst>
          </a:prstGeom>
          <a:solidFill>
            <a:srgbClr val="2D6A0F"/>
          </a:solidFill>
          <a:ln w="12700">
            <a:solidFill>
              <a:srgbClr val="2D6A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26480" y="1463040"/>
            <a:ext cx="5486400" cy="137160"/>
          </a:xfrm>
          <a:prstGeom prst="rect">
            <a:avLst/>
          </a:prstGeom>
          <a:solidFill>
            <a:srgbClr val="2D6A0F"/>
          </a:solidFill>
          <a:ln w="12700">
            <a:solidFill>
              <a:srgbClr val="2D6A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115214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Vantagens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69164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drástica no tempo de triagem manual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objetivos e consistentes para todos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foca apenas nos candidatos mais qualificados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candidato reprovado sem revisão humana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detalhada com pontos fortes e o que falta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Completa de Vagas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5852160" cy="457200"/>
          </a:xfrm>
          <a:prstGeom prst="rect">
            <a:avLst/>
          </a:prstGeom>
          <a:solidFill>
            <a:srgbClr val="1A56A0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88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188720"/>
            <a:ext cx="5852160" cy="457200"/>
          </a:xfrm>
          <a:prstGeom prst="rect">
            <a:avLst/>
          </a:prstGeom>
          <a:solidFill>
            <a:srgbClr val="1A56A0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0" y="118872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74320" y="1664208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66420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 do cargo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664208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6420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da posição aberta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39696"/>
            <a:ext cx="5852160" cy="457200"/>
          </a:xfrm>
          <a:prstGeom prst="rect">
            <a:avLst/>
          </a:prstGeom>
          <a:solidFill>
            <a:srgbClr val="F7F6F2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13969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/ Departamento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2139696"/>
            <a:ext cx="5852160" cy="457200"/>
          </a:xfrm>
          <a:prstGeom prst="rect">
            <a:avLst/>
          </a:prstGeom>
          <a:solidFill>
            <a:srgbClr val="F7F6F2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213969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da empresa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615184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61518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Modalidade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615184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61518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Remoto, Híbrido ou Presencial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090672"/>
            <a:ext cx="5852160" cy="457200"/>
          </a:xfrm>
          <a:prstGeom prst="rect">
            <a:avLst/>
          </a:prstGeom>
          <a:solidFill>
            <a:srgbClr val="F7F6F2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09067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contrato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090672"/>
            <a:ext cx="5852160" cy="457200"/>
          </a:xfrm>
          <a:prstGeom prst="rect">
            <a:avLst/>
          </a:prstGeom>
          <a:solidFill>
            <a:srgbClr val="F7F6F2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3090672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CLT, PJ, Estágio ou Freelance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566160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661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 salarial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3566160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0" y="356616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mínimo e máximo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4041648"/>
            <a:ext cx="5852160" cy="457200"/>
          </a:xfrm>
          <a:prstGeom prst="rect">
            <a:avLst/>
          </a:prstGeom>
          <a:solidFill>
            <a:srgbClr val="F7F6F2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4164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4041648"/>
            <a:ext cx="5852160" cy="457200"/>
          </a:xfrm>
          <a:prstGeom prst="rect">
            <a:avLst/>
          </a:prstGeom>
          <a:solidFill>
            <a:srgbClr val="F7F6F2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404164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e competências necessárias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74320" y="4517136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51713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4517136"/>
            <a:ext cx="58521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09360" y="451713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Palavras-chave para busca no portal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4992624"/>
            <a:ext cx="5852160" cy="457200"/>
          </a:xfrm>
          <a:prstGeom prst="rect">
            <a:avLst/>
          </a:prstGeom>
          <a:solidFill>
            <a:srgbClr val="F7F6F2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99262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217920" y="4992624"/>
            <a:ext cx="5852160" cy="457200"/>
          </a:xfrm>
          <a:prstGeom prst="rect">
            <a:avLst/>
          </a:prstGeom>
          <a:solidFill>
            <a:srgbClr val="F7F6F2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09360" y="499262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completo da vaga (pode ser gerado por IA)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74320" y="5532120"/>
            <a:ext cx="11640312" cy="548640"/>
          </a:xfrm>
          <a:prstGeom prst="rect">
            <a:avLst>
              <a:gd name="adj" fmla="val 10000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5550408"/>
            <a:ext cx="114574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Gerador de JD com IA: a IA cria automaticamente uma descrição profissional a partir do título, área e requisitos.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Candidatos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5486400" cy="4937760"/>
          </a:xfrm>
          <a:prstGeom prst="rect">
            <a:avLst>
              <a:gd name="adj" fmla="val 1852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0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548640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5214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armazenados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e-mail, telefone, localização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Habilidades (tags)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IA e análise detalhada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Currículo (CV) para download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LGPD com data/hora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candidaturas e etapas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486400" cy="4937760"/>
          </a:xfrm>
          <a:prstGeom prst="rect">
            <a:avLst>
              <a:gd name="adj" fmla="val 1852"/>
            </a:avLst>
          </a:prstGeom>
          <a:solidFill>
            <a:srgbClr val="F7F6F2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143000"/>
            <a:ext cx="5486400" cy="457200"/>
          </a:xfrm>
          <a:prstGeom prst="rect">
            <a:avLst>
              <a:gd name="adj" fmla="val 20000"/>
            </a:avLst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5486400" cy="137160"/>
          </a:xfrm>
          <a:prstGeom prst="rect">
            <a:avLst/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15214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no perfil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análise completa da IA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/ recalcular score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mensagem direta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entrevista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Vincular a uma vaga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Avançar etapa ou reprovar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do currículo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candidato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de Entrevistas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5486400" cy="4937760"/>
          </a:xfrm>
          <a:prstGeom prst="rect">
            <a:avLst>
              <a:gd name="adj" fmla="val 1852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0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548640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5214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ao agendar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(seleção via dropdown)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 horário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Tipo: RH, Técnica ou Final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Formato: Videoconferência ou Presencial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de acesso / Endereço (obrigatório)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486400" cy="4937760"/>
          </a:xfrm>
          <a:prstGeom prst="rect">
            <a:avLst>
              <a:gd name="adj" fmla="val 1852"/>
            </a:avLst>
          </a:prstGeom>
          <a:solidFill>
            <a:srgbClr val="E6F4DC"/>
          </a:solidFill>
          <a:ln w="12700">
            <a:solidFill>
              <a:srgbClr val="2D6A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143000"/>
            <a:ext cx="5486400" cy="457200"/>
          </a:xfrm>
          <a:prstGeom prst="rect">
            <a:avLst>
              <a:gd name="adj" fmla="val 20000"/>
            </a:avLst>
          </a:prstGeom>
          <a:solidFill>
            <a:srgbClr val="2D6A0F"/>
          </a:solidFill>
          <a:ln w="12700">
            <a:solidFill>
              <a:srgbClr val="2D6A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5486400" cy="137160"/>
          </a:xfrm>
          <a:prstGeom prst="rect">
            <a:avLst/>
          </a:prstGeom>
          <a:solidFill>
            <a:srgbClr val="2D6A0F"/>
          </a:solidFill>
          <a:ln w="12700">
            <a:solidFill>
              <a:srgbClr val="2D6A0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15214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automático com todos os detalhes da entrevista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"Link de acesso" para vídeo / "Local da entrevista" para presencial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formatada em DD/MM/AAAA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exibido como texto completo (não abreviado)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automático enviado 24h antes pelo servidor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Propostas e Ofertas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11640312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vinculado (seleção)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proposto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Bônus de contratação (signing bonus)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de início prevista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 de validade da oferta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pendente, aceita ou recusada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74320" y="4937760"/>
            <a:ext cx="11640312" cy="731520"/>
          </a:xfrm>
          <a:prstGeom prst="rect">
            <a:avLst>
              <a:gd name="adj" fmla="val 10000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956048"/>
            <a:ext cx="114574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salvar: e-mail automático enviado com salário formatado (R$ 10.000) e data de início em DD/MM/AAAA.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E-mails Automáticos em Momentos-Chave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823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profissional sem esforço manual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457200" cy="4114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1188720"/>
            <a:ext cx="2286000" cy="4114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18872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017520" y="1188720"/>
            <a:ext cx="4114800" cy="4114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63240" y="11887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é disparado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132320" y="1188720"/>
            <a:ext cx="4572000" cy="41148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118872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 do e-mail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600200"/>
            <a:ext cx="4572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1600200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1600200"/>
            <a:ext cx="2286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1600200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Candidatura recebida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017520" y="1600200"/>
            <a:ext cx="41148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63240" y="160020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se inscreve no portal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132320" y="1600200"/>
            <a:ext cx="4572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160020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Confirmação + link do portal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2221992"/>
            <a:ext cx="457200" cy="603504"/>
          </a:xfrm>
          <a:prstGeom prst="rect">
            <a:avLst/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221992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2221992"/>
            <a:ext cx="2286000" cy="603504"/>
          </a:xfrm>
          <a:prstGeom prst="rect">
            <a:avLst/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2221992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agendada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017520" y="2221992"/>
            <a:ext cx="4114800" cy="603504"/>
          </a:xfrm>
          <a:prstGeom prst="rect">
            <a:avLst/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63240" y="2221992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agenda entrevista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132320" y="2221992"/>
            <a:ext cx="4572000" cy="603504"/>
          </a:xfrm>
          <a:prstGeom prst="rect">
            <a:avLst/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178040" y="2221992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hora, formato e link/endereço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74320" y="2843784"/>
            <a:ext cx="4572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2843784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31520" y="2843784"/>
            <a:ext cx="2286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2843784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enviada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017520" y="2843784"/>
            <a:ext cx="41148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063240" y="2843784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Proposta é registrada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132320" y="2843784"/>
            <a:ext cx="4572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78040" y="2843784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+ data de início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74320" y="3465576"/>
            <a:ext cx="457200" cy="603504"/>
          </a:xfrm>
          <a:prstGeom prst="rect">
            <a:avLst/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3465576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3465576"/>
            <a:ext cx="2286000" cy="603504"/>
          </a:xfrm>
          <a:prstGeom prst="rect">
            <a:avLst/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3465576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Contratado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017520" y="3465576"/>
            <a:ext cx="4114800" cy="603504"/>
          </a:xfrm>
          <a:prstGeom prst="rect">
            <a:avLst/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63240" y="3465576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Avança para etapa "Contratado"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132320" y="3465576"/>
            <a:ext cx="4572000" cy="603504"/>
          </a:xfrm>
          <a:prstGeom prst="rect">
            <a:avLst/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3465576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Parabéns e próximos passos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74320" y="4087368"/>
            <a:ext cx="4572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20040" y="4087368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31520" y="4087368"/>
            <a:ext cx="2286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" y="4087368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reprovação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017520" y="4087368"/>
            <a:ext cx="41148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063240" y="4087368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é reprovado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132320" y="4087368"/>
            <a:ext cx="4572000" cy="603504"/>
          </a:xfrm>
          <a:prstGeom prst="rect">
            <a:avLst/>
          </a:prstGeom>
          <a:solidFill>
            <a:srgbClr val="FFFFFF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78040" y="4087368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Agradecimento e feedback respeitoso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74320" y="4709160"/>
            <a:ext cx="457200" cy="603504"/>
          </a:xfrm>
          <a:prstGeom prst="rect">
            <a:avLst/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709160"/>
            <a:ext cx="3657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731520" y="4709160"/>
            <a:ext cx="2286000" cy="603504"/>
          </a:xfrm>
          <a:prstGeom prst="rect">
            <a:avLst/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77240" y="4709160"/>
            <a:ext cx="2194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entrevista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017520" y="4709160"/>
            <a:ext cx="4114800" cy="603504"/>
          </a:xfrm>
          <a:prstGeom prst="rect">
            <a:avLst/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063240" y="470916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 antes (automático pelo servidor)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7132320" y="4709160"/>
            <a:ext cx="4572000" cy="603504"/>
          </a:xfrm>
          <a:prstGeom prst="rect">
            <a:avLst/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78040" y="4709160"/>
            <a:ext cx="44805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Lembrete completo com todos os dados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74320" y="6309360"/>
            <a:ext cx="117317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6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Variáveis disponíveis: {nome} {cargo} {empresa} {data} {hora} {link_agenda} {salario} {data_inicio} {recrutador} {link_portal}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Mensagens Diretas com Candidatos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116403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interno entre RH e candidatos, acessível no admin e no portal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conversas com indicador de mensagens não lidas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pode iniciar conversa ou responder candidatos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visualiza e responde pelo portal (Minha Área)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cada conversa preservado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para: tirar dúvidas, solicitar documentos, dar feedbacks informais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— Visão Geral em Tempo Real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3749040" cy="2194560"/>
          </a:xfrm>
          <a:prstGeom prst="rect">
            <a:avLst>
              <a:gd name="adj" fmla="val 4167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3749040" cy="502920"/>
          </a:xfrm>
          <a:prstGeom prst="rect">
            <a:avLst>
              <a:gd name="adj" fmla="val 18182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600200"/>
            <a:ext cx="374904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234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Vagas abertas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8288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de posições ativas no sistema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06240" y="1234440"/>
            <a:ext cx="3749040" cy="2194560"/>
          </a:xfrm>
          <a:prstGeom prst="rect">
            <a:avLst>
              <a:gd name="adj" fmla="val 4167"/>
            </a:avLst>
          </a:prstGeom>
          <a:solidFill>
            <a:srgbClr val="F7F6F2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06240" y="1234440"/>
            <a:ext cx="3749040" cy="502920"/>
          </a:xfrm>
          <a:prstGeom prst="rect">
            <a:avLst>
              <a:gd name="adj" fmla="val 18182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1600200"/>
            <a:ext cx="374904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0" y="1234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candidatos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43400" y="18288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candidatos cadastrados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1234440"/>
            <a:ext cx="3749040" cy="2194560"/>
          </a:xfrm>
          <a:prstGeom prst="rect">
            <a:avLst>
              <a:gd name="adj" fmla="val 4167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38160" y="1234440"/>
            <a:ext cx="3749040" cy="502920"/>
          </a:xfrm>
          <a:prstGeom prst="rect">
            <a:avLst>
              <a:gd name="adj" fmla="val 18182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600200"/>
            <a:ext cx="374904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12344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na semana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75320" y="182880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Agendadas para os próximos 7 dias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703320"/>
            <a:ext cx="3749040" cy="2194560"/>
          </a:xfrm>
          <a:prstGeom prst="rect">
            <a:avLst>
              <a:gd name="adj" fmla="val 4167"/>
            </a:avLst>
          </a:prstGeom>
          <a:solidFill>
            <a:srgbClr val="F7F6F2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703320"/>
            <a:ext cx="3749040" cy="502920"/>
          </a:xfrm>
          <a:prstGeom prst="rect">
            <a:avLst>
              <a:gd name="adj" fmla="val 18182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4069080"/>
            <a:ext cx="374904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703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aprovação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" y="42976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em Triagem IA ou além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06240" y="3703320"/>
            <a:ext cx="3749040" cy="2194560"/>
          </a:xfrm>
          <a:prstGeom prst="rect">
            <a:avLst>
              <a:gd name="adj" fmla="val 4167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3703320"/>
            <a:ext cx="3749040" cy="502920"/>
          </a:xfrm>
          <a:prstGeom prst="rect">
            <a:avLst>
              <a:gd name="adj" fmla="val 18182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06240" y="4069080"/>
            <a:ext cx="374904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97680" y="3703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médio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343400" y="42976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dos scores IA por vaga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3703320"/>
            <a:ext cx="3749040" cy="2194560"/>
          </a:xfrm>
          <a:prstGeom prst="rect">
            <a:avLst>
              <a:gd name="adj" fmla="val 4167"/>
            </a:avLst>
          </a:prstGeom>
          <a:solidFill>
            <a:srgbClr val="F7F6F2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138160" y="3703320"/>
            <a:ext cx="3749040" cy="502920"/>
          </a:xfrm>
          <a:prstGeom prst="rect">
            <a:avLst>
              <a:gd name="adj" fmla="val 18182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4069080"/>
            <a:ext cx="374904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229600" y="370332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recentes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275320" y="429768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inscritos com score e vaga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Dados e Assistente Inteligente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5486400" cy="4937760"/>
          </a:xfrm>
          <a:prstGeom prst="rect">
            <a:avLst>
              <a:gd name="adj" fmla="val 1852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0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548640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5214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Distribuição de candidatos por etapa do pipeline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por vaga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médio e taxa de aprovação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contratações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486400" cy="4937760"/>
          </a:xfrm>
          <a:prstGeom prst="rect">
            <a:avLst>
              <a:gd name="adj" fmla="val 1852"/>
            </a:avLst>
          </a:prstGeom>
          <a:solidFill>
            <a:srgbClr val="F7F6F2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143000"/>
            <a:ext cx="5486400" cy="457200"/>
          </a:xfrm>
          <a:prstGeom prst="rect">
            <a:avLst>
              <a:gd name="adj" fmla="val 20000"/>
            </a:avLst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5486400" cy="137160"/>
          </a:xfrm>
          <a:prstGeom prst="rect">
            <a:avLst/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15214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IA — exemplos de perguntas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em linguagem natural sobre os dados do sistema: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55080" y="214884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"Quais candidatos têm maior score?"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"Quantas vagas temos abertas?"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"Qual a taxa de aprovação este mês?"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baseadas nos dados reais do banco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com a LGPD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188720"/>
            <a:ext cx="11640312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explícito do candidato no cadastro (checkbox obrigatório)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de dados pessoais em JSON — direito do titular garantido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completa de dados: RH pode remover candidato e todo o histórico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consentimento com data e hora no banco de dados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armazenados com segurança no Supabase (PostgreSQL)</a:t>
            </a:r>
            <a:endParaRPr lang="en-US" sz="1500" dirty="0"/>
          </a:p>
          <a:p>
            <a:pPr>
              <a:spcAft>
                <a:spcPts val="400"/>
              </a:spcAft>
            </a:pPr>
            <a:r>
              <a:rPr lang="en-US" sz="15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nunca reprovados automaticamente — revisão humana sempre disponível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e Infraestrutura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43000"/>
            <a:ext cx="5486400" cy="4937760"/>
          </a:xfrm>
          <a:prstGeom prst="rect">
            <a:avLst>
              <a:gd name="adj" fmla="val 1852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548640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463040"/>
            <a:ext cx="548640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15214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disponíveis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11480" y="169164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dados da empresa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SMTP (qualquer provedor de e-mail)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 conexão de e-mail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Chave da API Anthropic (IA)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Conexão com Supabase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143000"/>
            <a:ext cx="5486400" cy="4937760"/>
          </a:xfrm>
          <a:prstGeom prst="rect">
            <a:avLst>
              <a:gd name="adj" fmla="val 1852"/>
            </a:avLst>
          </a:prstGeom>
          <a:solidFill>
            <a:srgbClr val="F7F6F2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1143000"/>
            <a:ext cx="5486400" cy="457200"/>
          </a:xfrm>
          <a:prstGeom prst="rect">
            <a:avLst>
              <a:gd name="adj" fmla="val 20000"/>
            </a:avLst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463040"/>
            <a:ext cx="5486400" cy="137160"/>
          </a:xfrm>
          <a:prstGeom prst="rect">
            <a:avLst/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1152144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Tecnologias utilizadas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355080" y="1691640"/>
            <a:ext cx="52120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HTML5 + CSS3 + JavaScript puro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Node.js (servidor leve)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dados: Supabase (PostgreSQL)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Artificial: Claude Sonnet (Anthropic)</a:t>
            </a:r>
            <a:endParaRPr lang="en-US" sz="1300" dirty="0"/>
          </a:p>
          <a:p>
            <a:pPr>
              <a:spcAft>
                <a:spcPts val="400"/>
              </a:spcAft>
            </a:pPr>
            <a:r>
              <a:rPr lang="en-US" sz="13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E-mail: Nodemailer (SMTP universal)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Completo: Do Candidato ao Contratado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188720"/>
            <a:ext cx="502920" cy="685800"/>
          </a:xfrm>
          <a:prstGeom prst="rect">
            <a:avLst>
              <a:gd name="adj" fmla="val 9091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1887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7240" y="1188720"/>
            <a:ext cx="5212080" cy="685800"/>
          </a:xfrm>
          <a:prstGeom prst="rect">
            <a:avLst>
              <a:gd name="adj" fmla="val 6667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1887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publica vaga no sistema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188720"/>
            <a:ext cx="502920" cy="685800"/>
          </a:xfrm>
          <a:prstGeom prst="rect">
            <a:avLst>
              <a:gd name="adj" fmla="val 9091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1887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720840" y="1188720"/>
            <a:ext cx="5212080" cy="685800"/>
          </a:xfrm>
          <a:prstGeom prst="rect">
            <a:avLst>
              <a:gd name="adj" fmla="val 6667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12280" y="11887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Vaga aparece no portal público para candidatos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03120"/>
            <a:ext cx="502920" cy="685800"/>
          </a:xfrm>
          <a:prstGeom prst="rect">
            <a:avLst>
              <a:gd name="adj" fmla="val 9091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1031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2103120"/>
            <a:ext cx="5212080" cy="685800"/>
          </a:xfrm>
          <a:prstGeom prst="rect">
            <a:avLst>
              <a:gd name="adj" fmla="val 6667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1031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se cadastra e se inscreve na vaga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103120"/>
            <a:ext cx="502920" cy="685800"/>
          </a:xfrm>
          <a:prstGeom prst="rect">
            <a:avLst>
              <a:gd name="adj" fmla="val 9091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21031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20840" y="2103120"/>
            <a:ext cx="5212080" cy="685800"/>
          </a:xfrm>
          <a:prstGeom prst="rect">
            <a:avLst>
              <a:gd name="adj" fmla="val 6667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21031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calcula score automaticamente em background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017520"/>
            <a:ext cx="502920" cy="685800"/>
          </a:xfrm>
          <a:prstGeom prst="rect">
            <a:avLst>
              <a:gd name="adj" fmla="val 9091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0175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77240" y="3017520"/>
            <a:ext cx="5212080" cy="685800"/>
          </a:xfrm>
          <a:prstGeom prst="rect">
            <a:avLst>
              <a:gd name="adj" fmla="val 6667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30175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de confirmação enviado ao candidato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3017520"/>
            <a:ext cx="502920" cy="685800"/>
          </a:xfrm>
          <a:prstGeom prst="rect">
            <a:avLst>
              <a:gd name="adj" fmla="val 9091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17920" y="30175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720840" y="3017520"/>
            <a:ext cx="5212080" cy="685800"/>
          </a:xfrm>
          <a:prstGeom prst="rect">
            <a:avLst>
              <a:gd name="adj" fmla="val 6667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30175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70%: candidato avança para Triagem IA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74320" y="3931920"/>
            <a:ext cx="502920" cy="685800"/>
          </a:xfrm>
          <a:prstGeom prst="rect">
            <a:avLst>
              <a:gd name="adj" fmla="val 9091"/>
            </a:avLst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9319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77240" y="3931920"/>
            <a:ext cx="5212080" cy="685800"/>
          </a:xfrm>
          <a:prstGeom prst="rect">
            <a:avLst>
              <a:gd name="adj" fmla="val 6667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680" y="39319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analisa candidatos no pipeline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217920" y="3931920"/>
            <a:ext cx="502920" cy="685800"/>
          </a:xfrm>
          <a:prstGeom prst="rect">
            <a:avLst>
              <a:gd name="adj" fmla="val 9091"/>
            </a:avLst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0" y="39319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6720840" y="3931920"/>
            <a:ext cx="5212080" cy="685800"/>
          </a:xfrm>
          <a:prstGeom prst="rect">
            <a:avLst>
              <a:gd name="adj" fmla="val 6667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12280" y="39319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agenda entrevista → e-mail automático enviado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74320" y="4846320"/>
            <a:ext cx="502920" cy="685800"/>
          </a:xfrm>
          <a:prstGeom prst="rect">
            <a:avLst>
              <a:gd name="adj" fmla="val 9091"/>
            </a:avLst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463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777240" y="4846320"/>
            <a:ext cx="5212080" cy="685800"/>
          </a:xfrm>
          <a:prstGeom prst="rect">
            <a:avLst>
              <a:gd name="adj" fmla="val 6667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8463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envia lembrete automático 24h antes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217920" y="4846320"/>
            <a:ext cx="502920" cy="685800"/>
          </a:xfrm>
          <a:prstGeom prst="rect">
            <a:avLst>
              <a:gd name="adj" fmla="val 9091"/>
            </a:avLst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17920" y="48463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720840" y="4846320"/>
            <a:ext cx="5212080" cy="685800"/>
          </a:xfrm>
          <a:prstGeom prst="rect">
            <a:avLst>
              <a:gd name="adj" fmla="val 6667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12280" y="48463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avança candidato pelas etapas conforme avaliação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74320" y="5760720"/>
            <a:ext cx="502920" cy="685800"/>
          </a:xfrm>
          <a:prstGeom prst="rect">
            <a:avLst>
              <a:gd name="adj" fmla="val 9091"/>
            </a:avLst>
          </a:prstGeom>
          <a:solidFill>
            <a:srgbClr val="0D3D7A"/>
          </a:solidFill>
          <a:ln w="12700">
            <a:solidFill>
              <a:srgbClr val="0D3D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57607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777240" y="5760720"/>
            <a:ext cx="5212080" cy="685800"/>
          </a:xfrm>
          <a:prstGeom prst="rect">
            <a:avLst>
              <a:gd name="adj" fmla="val 6667"/>
            </a:avLst>
          </a:prstGeom>
          <a:solidFill>
            <a:srgbClr val="E8F0FB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68680" y="57607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 registrada → e-mail automático com salário e data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6217920" y="5760720"/>
            <a:ext cx="502920" cy="685800"/>
          </a:xfrm>
          <a:prstGeom prst="rect">
            <a:avLst>
              <a:gd name="adj" fmla="val 9091"/>
            </a:avLst>
          </a:prstGeom>
          <a:solidFill>
            <a:srgbClr val="1A7A1A"/>
          </a:solidFill>
          <a:ln w="12700">
            <a:solidFill>
              <a:srgbClr val="1A7A1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0" y="5760720"/>
            <a:ext cx="502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720840" y="5760720"/>
            <a:ext cx="5212080" cy="685800"/>
          </a:xfrm>
          <a:prstGeom prst="rect">
            <a:avLst>
              <a:gd name="adj" fmla="val 6667"/>
            </a:avLst>
          </a:prstGeom>
          <a:solidFill>
            <a:srgbClr val="E6F4DC"/>
          </a:solidFill>
          <a:ln w="6350">
            <a:solidFill>
              <a:srgbClr val="1A56A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812280" y="57607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Candidato contratado → e-mail de parabéns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164592"/>
            <a:ext cx="1182319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3D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Começar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749808"/>
            <a:ext cx="118231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Passos para implantação do TalentAI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11731752" cy="0"/>
          </a:xfrm>
          <a:prstGeom prst="line">
            <a:avLst/>
          </a:prstGeom>
          <a:noFill/>
          <a:ln w="19050">
            <a:solidFill>
              <a:srgbClr val="E8F0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88720"/>
            <a:ext cx="5669280" cy="1508760"/>
          </a:xfrm>
          <a:prstGeom prst="rect">
            <a:avLst>
              <a:gd name="adj" fmla="val 6061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188720"/>
            <a:ext cx="566928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08760"/>
            <a:ext cx="566928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1: Configurar Node.js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71907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Node.js e rodar: npm install &amp;&amp; node server.js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1188720"/>
            <a:ext cx="5669280" cy="1508760"/>
          </a:xfrm>
          <a:prstGeom prst="rect">
            <a:avLst>
              <a:gd name="adj" fmla="val 6061"/>
            </a:avLst>
          </a:prstGeom>
          <a:solidFill>
            <a:srgbClr val="F7F6F2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188720"/>
            <a:ext cx="566928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508760"/>
            <a:ext cx="566928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1188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2: Criar conta Supabase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309360" y="171907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supabase.com, criar projeto e executar o schema SQL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2880360"/>
            <a:ext cx="5669280" cy="1508760"/>
          </a:xfrm>
          <a:prstGeom prst="rect">
            <a:avLst>
              <a:gd name="adj" fmla="val 6061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880360"/>
            <a:ext cx="566928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200400"/>
            <a:ext cx="566928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3: Configurar .env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65760" y="341071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Preencher credenciais: Anthropic API Key, SMTP, Supabase URL e Service Key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880360"/>
            <a:ext cx="5669280" cy="1508760"/>
          </a:xfrm>
          <a:prstGeom prst="rect">
            <a:avLst>
              <a:gd name="adj" fmla="val 6061"/>
            </a:avLst>
          </a:prstGeom>
          <a:solidFill>
            <a:srgbClr val="F7F6F2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17920" y="2880360"/>
            <a:ext cx="566928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0" y="3200400"/>
            <a:ext cx="566928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4: Criar templates de e-mail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09360" y="341071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admin, acessar "E-mails auto" e criar um template para cada gatilho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572000"/>
            <a:ext cx="5669280" cy="1508760"/>
          </a:xfrm>
          <a:prstGeom prst="rect">
            <a:avLst>
              <a:gd name="adj" fmla="val 6061"/>
            </a:avLst>
          </a:prstGeom>
          <a:solidFill>
            <a:srgbClr val="E8F0FB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4572000"/>
            <a:ext cx="566928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4892040"/>
            <a:ext cx="566928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5: Publicar vagas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65760" y="510235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admin, acessar "Vagas" e cadastrar as posições disponíveis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17920" y="4572000"/>
            <a:ext cx="5669280" cy="1508760"/>
          </a:xfrm>
          <a:prstGeom prst="rect">
            <a:avLst>
              <a:gd name="adj" fmla="val 6061"/>
            </a:avLst>
          </a:prstGeom>
          <a:solidFill>
            <a:srgbClr val="F7F6F2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217920" y="4572000"/>
            <a:ext cx="5669280" cy="457200"/>
          </a:xfrm>
          <a:prstGeom prst="rect">
            <a:avLst>
              <a:gd name="adj" fmla="val 20000"/>
            </a:avLst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4892040"/>
            <a:ext cx="5669280" cy="137160"/>
          </a:xfrm>
          <a:prstGeom prst="rect">
            <a:avLst/>
          </a:prstGeom>
          <a:solidFill>
            <a:srgbClr val="1A56A0"/>
          </a:solidFill>
          <a:ln w="12700">
            <a:solidFill>
              <a:srgbClr val="1A56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45720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6: Divulgar o portal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309360" y="5102352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Compartilhar o link do portal nas redes sociais e plataformas de emprego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74320" y="6492240"/>
            <a:ext cx="11731752" cy="0"/>
          </a:xfrm>
          <a:prstGeom prst="line">
            <a:avLst/>
          </a:prstGeom>
          <a:noFill/>
          <a:ln w="12700">
            <a:solidFill>
              <a:srgbClr val="E8F0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6537960"/>
            <a:ext cx="117317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9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TalentAI — Sistema desenvolvido para otimizar o recrutamento com inteligência artificial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2026-05-19T13:36:38Z</dcterms:created>
  <dcterms:modified xsi:type="dcterms:W3CDTF">2026-05-19T13:36:38Z</dcterms:modified>
</cp:coreProperties>
</file>